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8835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64008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5544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kern="0" spc="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MedMap</a:t>
            </a:r>
            <a:endParaRPr lang="en-US" sz="5200" dirty="0"/>
          </a:p>
        </p:txBody>
      </p:sp>
      <p:sp>
        <p:nvSpPr>
          <p:cNvPr id="5" name="Text 2"/>
          <p:cNvSpPr/>
          <p:nvPr/>
        </p:nvSpPr>
        <p:spPr>
          <a:xfrm>
            <a:off x="4572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Health Data Mapping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914400" y="3063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Chaos to Unified Clinical Insights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0" y="4434840"/>
            <a:ext cx="9144000" cy="713232"/>
          </a:xfrm>
          <a:prstGeom prst="rect">
            <a:avLst/>
          </a:prstGeom>
          <a:solidFill>
            <a:srgbClr val="0F21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57200" y="44805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HACK 2026  ·  EPA CC Challenge  ·  Team ButEI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3749040" cy="2011680"/>
          </a:xfrm>
          <a:prstGeom prst="rect">
            <a:avLst/>
          </a:prstGeom>
          <a:solidFill>
            <a:srgbClr val="132B4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123444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€800M – €1.6B</a:t>
            </a:r>
            <a:endParaRPr lang="en-US" sz="3000" dirty="0"/>
          </a:p>
          <a:p>
            <a:pPr marL="0" indent="0">
              <a:buNone/>
            </a:pPr>
            <a:r>
              <a:rPr lang="en-US" sz="14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</a:t>
            </a:r>
            <a:endParaRPr lang="en-US" sz="30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3000" dirty="0"/>
          </a:p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wasted on manual data mapping</a:t>
            </a:r>
            <a:endParaRPr lang="en-US" sz="3000" dirty="0"/>
          </a:p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European healthcare systems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754880" y="1051560"/>
            <a:ext cx="3931920" cy="576072"/>
          </a:xfrm>
          <a:prstGeom prst="rect">
            <a:avLst/>
          </a:prstGeom>
          <a:solidFill>
            <a:srgbClr val="132B4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161288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40680" y="10789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7+ data sources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40680" y="132588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Labs, devices, meds, nursing notes, EPA, ICD-10...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754880" y="1719072"/>
            <a:ext cx="3931920" cy="576072"/>
          </a:xfrm>
          <a:prstGeom prst="rect">
            <a:avLst/>
          </a:prstGeom>
          <a:solidFill>
            <a:srgbClr val="132B4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828800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40680" y="17465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Inconsistent schemas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440680" y="199339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PatID vs patient_id vs pid — same field, different names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754880" y="2386584"/>
            <a:ext cx="3931920" cy="576072"/>
          </a:xfrm>
          <a:prstGeom prst="rect">
            <a:avLst/>
          </a:prstGeom>
          <a:solidFill>
            <a:srgbClr val="132B4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2496312"/>
            <a:ext cx="347472" cy="34747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440680" y="24140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Manual &amp; error-prone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5440680" y="266090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NULL, Missing, N/A, unknow — all mean the same thing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48640" y="3337560"/>
            <a:ext cx="8046720" cy="640080"/>
          </a:xfrm>
          <a:prstGeom prst="rect">
            <a:avLst/>
          </a:prstGeom>
          <a:solidFill>
            <a:srgbClr val="132B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822960" y="338328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"Current harmonization requires numerous manual steps, leading to inefficiency and limited scalability."  — You </a:t>
            </a:r>
            <a:r>
              <a:rPr lang="en-US" sz="1100" i="1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words!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MedMap  ·  START HACK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 Solution: MedMap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end-to-end pipeline that ingests, cleans, harmonizes, and exports clinical data — powered by AI.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874520" cy="1645920"/>
          </a:xfrm>
          <a:prstGeom prst="rect">
            <a:avLst/>
          </a:prstGeom>
          <a:solidFill>
            <a:srgbClr val="028090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155448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1488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INGEST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24688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8F1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CSV, XLSX,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E8F1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PDF, Free Text</a:t>
            </a:r>
            <a:endParaRPr lang="en-US" sz="10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8880" y="1965960"/>
            <a:ext cx="228600" cy="2286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697480" y="1417320"/>
            <a:ext cx="1874520" cy="1645920"/>
          </a:xfrm>
          <a:prstGeom prst="rect">
            <a:avLst/>
          </a:prstGeom>
          <a:solidFill>
            <a:srgbClr val="0A7070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5848" y="1554480"/>
            <a:ext cx="548640" cy="54864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788920" y="21488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ANALYZE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2788920" y="24688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8F1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scores,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E8F1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anomalies, nulls</a:t>
            </a:r>
            <a:endParaRPr lang="en-US" sz="105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1965960"/>
            <a:ext cx="228600" cy="2286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4846320" y="1417320"/>
            <a:ext cx="1874520" cy="1645920"/>
          </a:xfrm>
          <a:prstGeom prst="rect">
            <a:avLst/>
          </a:prstGeom>
          <a:solidFill>
            <a:srgbClr val="086060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4688" y="1554480"/>
            <a:ext cx="548640" cy="54864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4937760" y="21488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REPAIR</a:t>
            </a:r>
            <a:endParaRPr lang="en-US" sz="1400" dirty="0"/>
          </a:p>
        </p:txBody>
      </p:sp>
      <p:sp>
        <p:nvSpPr>
          <p:cNvPr id="18" name="Text 11"/>
          <p:cNvSpPr/>
          <p:nvPr/>
        </p:nvSpPr>
        <p:spPr>
          <a:xfrm>
            <a:off x="4937760" y="24688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8F1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+ Claude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E8F1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auto-correction</a:t>
            </a:r>
            <a:endParaRPr lang="en-US" sz="105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1965960"/>
            <a:ext cx="228600" cy="22860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6995160" y="1417320"/>
            <a:ext cx="1874520" cy="1645920"/>
          </a:xfrm>
          <a:prstGeom prst="rect">
            <a:avLst/>
          </a:prstGeom>
          <a:solidFill>
            <a:srgbClr val="065050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53528" y="1554480"/>
            <a:ext cx="548640" cy="548640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7086600" y="21488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1400" dirty="0"/>
          </a:p>
        </p:txBody>
      </p:sp>
      <p:sp>
        <p:nvSpPr>
          <p:cNvPr id="23" name="Text 14"/>
          <p:cNvSpPr/>
          <p:nvPr/>
        </p:nvSpPr>
        <p:spPr>
          <a:xfrm>
            <a:off x="7086600" y="24688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8F1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model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E8F1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SQL Server</a:t>
            </a:r>
            <a:endParaRPr lang="en-US" sz="1050" dirty="0"/>
          </a:p>
        </p:txBody>
      </p:sp>
      <p:sp>
        <p:nvSpPr>
          <p:cNvPr id="24" name="Shape 15"/>
          <p:cNvSpPr/>
          <p:nvPr/>
        </p:nvSpPr>
        <p:spPr>
          <a:xfrm>
            <a:off x="548640" y="3383280"/>
            <a:ext cx="8046720" cy="1234440"/>
          </a:xfrm>
          <a:prstGeom prst="rect">
            <a:avLst/>
          </a:prstGeom>
          <a:solidFill>
            <a:srgbClr val="132B4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16"/>
          <p:cNvSpPr/>
          <p:nvPr/>
        </p:nvSpPr>
        <p:spPr>
          <a:xfrm>
            <a:off x="822960" y="3474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 Stack</a:t>
            </a:r>
            <a:endParaRPr lang="en-US" sz="1300" dirty="0"/>
          </a:p>
        </p:txBody>
      </p:sp>
      <p:sp>
        <p:nvSpPr>
          <p:cNvPr id="26" name="Text 17"/>
          <p:cNvSpPr/>
          <p:nvPr/>
        </p:nvSpPr>
        <p:spPr>
          <a:xfrm>
            <a:off x="822960" y="38404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</a:t>
            </a:r>
            <a:endParaRPr lang="en-US" sz="1000" dirty="0"/>
          </a:p>
        </p:txBody>
      </p:sp>
      <p:sp>
        <p:nvSpPr>
          <p:cNvPr id="27" name="Text 18"/>
          <p:cNvSpPr/>
          <p:nvPr/>
        </p:nvSpPr>
        <p:spPr>
          <a:xfrm>
            <a:off x="1600200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Flask · Pandas · SQLAlchemy</a:t>
            </a:r>
            <a:endParaRPr lang="en-US" sz="1000" dirty="0"/>
          </a:p>
        </p:txBody>
      </p:sp>
      <p:sp>
        <p:nvSpPr>
          <p:cNvPr id="28" name="Text 19"/>
          <p:cNvSpPr/>
          <p:nvPr/>
        </p:nvSpPr>
        <p:spPr>
          <a:xfrm>
            <a:off x="4754880" y="38404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ML</a:t>
            </a:r>
            <a:endParaRPr lang="en-US" sz="1000" dirty="0"/>
          </a:p>
        </p:txBody>
      </p:sp>
      <p:sp>
        <p:nvSpPr>
          <p:cNvPr id="29" name="Text 20"/>
          <p:cNvSpPr/>
          <p:nvPr/>
        </p:nvSpPr>
        <p:spPr>
          <a:xfrm>
            <a:off x="5532120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(scikit-learn) · Anomaly Detection</a:t>
            </a:r>
            <a:endParaRPr lang="en-US" sz="1000" dirty="0"/>
          </a:p>
        </p:txBody>
      </p:sp>
      <p:sp>
        <p:nvSpPr>
          <p:cNvPr id="30" name="Text 21"/>
          <p:cNvSpPr/>
          <p:nvPr/>
        </p:nvSpPr>
        <p:spPr>
          <a:xfrm>
            <a:off x="822960" y="41879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1000" dirty="0"/>
          </a:p>
        </p:txBody>
      </p:sp>
      <p:sp>
        <p:nvSpPr>
          <p:cNvPr id="31" name="Text 22"/>
          <p:cNvSpPr/>
          <p:nvPr/>
        </p:nvSpPr>
        <p:spPr>
          <a:xfrm>
            <a:off x="1600200" y="41879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· Auto-repair</a:t>
            </a:r>
            <a:endParaRPr lang="en-US" sz="1000" dirty="0"/>
          </a:p>
        </p:txBody>
      </p:sp>
      <p:sp>
        <p:nvSpPr>
          <p:cNvPr id="32" name="Text 23"/>
          <p:cNvSpPr/>
          <p:nvPr/>
        </p:nvSpPr>
        <p:spPr>
          <a:xfrm>
            <a:off x="4754880" y="41879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3" name="Text 24"/>
          <p:cNvSpPr/>
          <p:nvPr/>
        </p:nvSpPr>
        <p:spPr>
          <a:xfrm>
            <a:off x="5532120" y="41879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· Vite · Recharts</a:t>
            </a:r>
            <a:endParaRPr lang="en-US" sz="1000" dirty="0"/>
          </a:p>
        </p:txBody>
      </p:sp>
      <p:sp>
        <p:nvSpPr>
          <p:cNvPr id="34" name="Text 25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MedMap  ·  START HACK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Smart Ingestion &amp; Data Quality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3977640" cy="3200400"/>
          </a:xfrm>
          <a:prstGeom prst="rect">
            <a:avLst/>
          </a:prstGeom>
          <a:solidFill>
            <a:srgbClr val="132B4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11430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Auto-Detect &amp; Ingest</a:t>
            </a:r>
            <a:endParaRPr lang="en-US" sz="15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57276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15361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/ XLSX / PDF — any format accepted</a:t>
            </a:r>
            <a:endParaRPr lang="en-US" sz="10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11096"/>
            <a:ext cx="201168" cy="20116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43000" y="18745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Auto-detects delimiter (comma, semicolon, tab, pipe)</a:t>
            </a:r>
            <a:endParaRPr lang="en-US" sz="10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249424"/>
            <a:ext cx="201168" cy="20116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43000" y="22128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encoding: UTF-8, Latin-1 fallback</a:t>
            </a:r>
            <a:endParaRPr lang="en-US" sz="10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587752"/>
            <a:ext cx="201168" cy="20116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43000" y="255117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normalization: NULL, Missing, N/A, unknow → NaN</a:t>
            </a:r>
            <a:endParaRPr lang="en-US" sz="105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926080"/>
            <a:ext cx="201168" cy="201168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143000" y="28895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case_id format normalization (CASE-0135, 0135, 135 → int)</a:t>
            </a:r>
            <a:endParaRPr lang="en-US" sz="105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264408"/>
            <a:ext cx="201168" cy="201168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143000" y="32278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nursing reports parsed via pdfplumber</a:t>
            </a:r>
            <a:endParaRPr lang="en-US" sz="105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602736"/>
            <a:ext cx="201168" cy="201168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1143000" y="35661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Corrupted XLSX → auto-fallback to CSV parsing</a:t>
            </a:r>
            <a:endParaRPr lang="en-US" sz="1050" dirty="0"/>
          </a:p>
        </p:txBody>
      </p:sp>
      <p:sp>
        <p:nvSpPr>
          <p:cNvPr id="20" name="Shape 11"/>
          <p:cNvSpPr/>
          <p:nvPr/>
        </p:nvSpPr>
        <p:spPr>
          <a:xfrm>
            <a:off x="4754880" y="1051560"/>
            <a:ext cx="3977640" cy="3200400"/>
          </a:xfrm>
          <a:prstGeom prst="rect">
            <a:avLst/>
          </a:prstGeom>
          <a:solidFill>
            <a:srgbClr val="132B4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2"/>
          <p:cNvSpPr/>
          <p:nvPr/>
        </p:nvSpPr>
        <p:spPr>
          <a:xfrm>
            <a:off x="5029200" y="11430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Quality Dashboard</a:t>
            </a:r>
            <a:endParaRPr lang="en-US" sz="1500" dirty="0"/>
          </a:p>
        </p:txBody>
      </p:sp>
      <p:sp>
        <p:nvSpPr>
          <p:cNvPr id="22" name="Shape 13"/>
          <p:cNvSpPr/>
          <p:nvPr/>
        </p:nvSpPr>
        <p:spPr>
          <a:xfrm>
            <a:off x="5029200" y="1645920"/>
            <a:ext cx="3474720" cy="365760"/>
          </a:xfrm>
          <a:prstGeom prst="rect">
            <a:avLst/>
          </a:prstGeom>
          <a:solidFill>
            <a:srgbClr val="0F21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14"/>
          <p:cNvSpPr/>
          <p:nvPr/>
        </p:nvSpPr>
        <p:spPr>
          <a:xfrm>
            <a:off x="5166360" y="166420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Completeness %</a:t>
            </a:r>
            <a:endParaRPr lang="en-US" sz="1100" dirty="0"/>
          </a:p>
        </p:txBody>
      </p:sp>
      <p:sp>
        <p:nvSpPr>
          <p:cNvPr id="24" name="Text 15"/>
          <p:cNvSpPr/>
          <p:nvPr/>
        </p:nvSpPr>
        <p:spPr>
          <a:xfrm>
            <a:off x="6537960" y="166420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column &amp; per dataset</a:t>
            </a:r>
            <a:endParaRPr lang="en-US" sz="1000" dirty="0"/>
          </a:p>
        </p:txBody>
      </p:sp>
      <p:sp>
        <p:nvSpPr>
          <p:cNvPr id="25" name="Shape 16"/>
          <p:cNvSpPr/>
          <p:nvPr/>
        </p:nvSpPr>
        <p:spPr>
          <a:xfrm>
            <a:off x="5029200" y="2084832"/>
            <a:ext cx="3474720" cy="365760"/>
          </a:xfrm>
          <a:prstGeom prst="rect">
            <a:avLst/>
          </a:prstGeom>
          <a:solidFill>
            <a:srgbClr val="0F21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17"/>
          <p:cNvSpPr/>
          <p:nvPr/>
        </p:nvSpPr>
        <p:spPr>
          <a:xfrm>
            <a:off x="5166360" y="21031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Null / Sentinel</a:t>
            </a:r>
            <a:endParaRPr lang="en-US" sz="1100" dirty="0"/>
          </a:p>
        </p:txBody>
      </p:sp>
      <p:sp>
        <p:nvSpPr>
          <p:cNvPr id="27" name="Text 18"/>
          <p:cNvSpPr/>
          <p:nvPr/>
        </p:nvSpPr>
        <p:spPr>
          <a:xfrm>
            <a:off x="6537960" y="2103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&amp; highlight in preview</a:t>
            </a:r>
            <a:endParaRPr lang="en-US" sz="1000" dirty="0"/>
          </a:p>
        </p:txBody>
      </p:sp>
      <p:sp>
        <p:nvSpPr>
          <p:cNvPr id="28" name="Shape 19"/>
          <p:cNvSpPr/>
          <p:nvPr/>
        </p:nvSpPr>
        <p:spPr>
          <a:xfrm>
            <a:off x="5029200" y="2523744"/>
            <a:ext cx="3474720" cy="365760"/>
          </a:xfrm>
          <a:prstGeom prst="rect">
            <a:avLst/>
          </a:prstGeom>
          <a:solidFill>
            <a:srgbClr val="0F21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0"/>
          <p:cNvSpPr/>
          <p:nvPr/>
        </p:nvSpPr>
        <p:spPr>
          <a:xfrm>
            <a:off x="5166360" y="254203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Wrong Types</a:t>
            </a:r>
            <a:endParaRPr lang="en-US" sz="1100" dirty="0"/>
          </a:p>
        </p:txBody>
      </p:sp>
      <p:sp>
        <p:nvSpPr>
          <p:cNvPr id="30" name="Text 21"/>
          <p:cNvSpPr/>
          <p:nvPr/>
        </p:nvSpPr>
        <p:spPr>
          <a:xfrm>
            <a:off x="6537960" y="2542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Garbled values like "73.9@"</a:t>
            </a:r>
            <a:endParaRPr lang="en-US" sz="1000" dirty="0"/>
          </a:p>
        </p:txBody>
      </p:sp>
      <p:sp>
        <p:nvSpPr>
          <p:cNvPr id="31" name="Shape 22"/>
          <p:cNvSpPr/>
          <p:nvPr/>
        </p:nvSpPr>
        <p:spPr>
          <a:xfrm>
            <a:off x="5029200" y="2962656"/>
            <a:ext cx="3474720" cy="365760"/>
          </a:xfrm>
          <a:prstGeom prst="rect">
            <a:avLst/>
          </a:prstGeom>
          <a:solidFill>
            <a:srgbClr val="0F21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3"/>
          <p:cNvSpPr/>
          <p:nvPr/>
        </p:nvSpPr>
        <p:spPr>
          <a:xfrm>
            <a:off x="5166360" y="298094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Patient ID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6537960" y="298094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validation &amp; mismatch detection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5029200" y="3401568"/>
            <a:ext cx="3474720" cy="365760"/>
          </a:xfrm>
          <a:prstGeom prst="rect">
            <a:avLst/>
          </a:prstGeom>
          <a:solidFill>
            <a:srgbClr val="0F21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26"/>
          <p:cNvSpPr/>
          <p:nvPr/>
        </p:nvSpPr>
        <p:spPr>
          <a:xfrm>
            <a:off x="5166360" y="341985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Compare View</a:t>
            </a:r>
            <a:endParaRPr lang="en-US" sz="1100" dirty="0"/>
          </a:p>
        </p:txBody>
      </p:sp>
      <p:sp>
        <p:nvSpPr>
          <p:cNvPr id="36" name="Text 27"/>
          <p:cNvSpPr/>
          <p:nvPr/>
        </p:nvSpPr>
        <p:spPr>
          <a:xfrm>
            <a:off x="6537960" y="341985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Side-by-side dataset quality comparison</a:t>
            </a:r>
            <a:endParaRPr lang="en-US" sz="1000" dirty="0"/>
          </a:p>
        </p:txBody>
      </p:sp>
      <p:sp>
        <p:nvSpPr>
          <p:cNvPr id="37" name="Text 28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MedMap  ·  START HACK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ML-Powered Anomaly Detection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3977640" cy="2011680"/>
          </a:xfrm>
          <a:prstGeom prst="rect">
            <a:avLst/>
          </a:prstGeom>
          <a:solidFill>
            <a:srgbClr val="132B4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18872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12070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Works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22960" y="17373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Train on CLEAN datasets only — learns what "normal" looks like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22960" y="203911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Isolation Forest scores every cell for anomalousness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2960" y="234086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Calibrated confidence: HIGH / MEDIUM / LOW / NONE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22960" y="264261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Flags corrupt chars, type mismatches, outliers, pattern breaks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754880" y="1051560"/>
            <a:ext cx="3977640" cy="2011680"/>
          </a:xfrm>
          <a:prstGeom prst="rect">
            <a:avLst/>
          </a:prstGeom>
          <a:solidFill>
            <a:srgbClr val="132B4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18872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77840" y="12070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Schema-Agnostic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5029200" y="17373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ANY new dataset — no retraining needed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5029200" y="203911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Cell-level features: length, digit ratio, corrupt chars, z-score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5029200" y="234086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Column-level profiling: dominant pattern, type inference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5029200" y="264261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15,000+ cells analyzed per prediction pass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48640" y="3291840"/>
            <a:ext cx="8183880" cy="960120"/>
          </a:xfrm>
          <a:prstGeom prst="rect">
            <a:avLst/>
          </a:prstGeom>
          <a:solidFill>
            <a:srgbClr val="132B4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5"/>
          <p:cNvSpPr/>
          <p:nvPr/>
        </p:nvSpPr>
        <p:spPr>
          <a:xfrm>
            <a:off x="822960" y="33649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Detection Output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822960" y="365760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0-100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822960" y="388620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Score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2834640" y="365760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flagged cells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2834640" y="388620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Rate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4846320" y="365760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confidence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4846320" y="388620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50 Suspicious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858000" y="365760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/ max / p90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858000" y="388620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Per-Column Stats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MedMap  ·  START HACK 2026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AI-Powered Repair &amp; SQL Export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3977640" cy="3200400"/>
          </a:xfrm>
          <a:prstGeom prst="rect">
            <a:avLst/>
          </a:prstGeom>
          <a:solidFill>
            <a:srgbClr val="132B4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18872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12070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Claude AI Repair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22960" y="178308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Context-aware corrections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98424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Analyzes column patterns, valid row examples &amp; schema to suggest fixes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22960" y="23774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Structured output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" y="257860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Schema enforcement — every correction has row, column, value, confidence, reason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22960" y="297180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Confidence scoring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31729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= obvious fix, MEDIUM = reasonable, LOW = uncertain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22960" y="356616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Human-in-the-loop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376732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approve each correction before applying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754880" y="1051560"/>
            <a:ext cx="3977640" cy="3200400"/>
          </a:xfrm>
          <a:prstGeom prst="rect">
            <a:avLst/>
          </a:prstGeom>
          <a:solidFill>
            <a:srgbClr val="132B4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188720"/>
            <a:ext cx="411480" cy="4114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577840" y="12070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Server Export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5029200" y="178308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One-Click Export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0" y="198424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data → SQL Server with AI fixes applied automatically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5029200" y="23774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Connection Manager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5029200" y="257860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server, port, database, auth type directly in the UI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5029200" y="297180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On-Premises Ready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5029200" y="31729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offline — no cloud dependency. Data never leaves the hospital network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5029200" y="356616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Unified Target Model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5029200" y="376732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datasets mapped to consistent schema linked by patient_id / case_id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MedMap  ·  START HACK 2026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Harmonization &amp; Patient View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3977640" cy="1554480"/>
          </a:xfrm>
          <a:prstGeom prst="rect">
            <a:avLst/>
          </a:prstGeom>
          <a:solidFill>
            <a:srgbClr val="132B4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11430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Automatic Column Mapping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PatID, patient_id, pid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926080" y="15544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 patient_id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8562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CASE-0135, 0135, 135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92608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 135 (integer)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215798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NULL, Missing, N/A, unknow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26080" y="215798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 NaN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1051560"/>
            <a:ext cx="3977640" cy="1554480"/>
          </a:xfrm>
          <a:prstGeom prst="rect">
            <a:avLst/>
          </a:prstGeom>
          <a:solidFill>
            <a:srgbClr val="132B4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0" y="11430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 Data Sources Unified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1536192"/>
            <a:ext cx="3566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results (1,000 cases, 15 biomarkers)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029200" y="1682496"/>
            <a:ext cx="3566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motion + fall events (24,000 rows)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029200" y="1828800"/>
            <a:ext cx="3566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High-freq IMU data (108,000 rows @ 1Hz)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029200" y="1975104"/>
            <a:ext cx="3566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Medication orders &amp; administrations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029200" y="2121408"/>
            <a:ext cx="3566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Nursing notes (free text, 181 entries)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029200" y="2267712"/>
            <a:ext cx="3566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EPA assessments (5 files, mixed formats)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029200" y="2414016"/>
            <a:ext cx="3566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ICD-10 / OPS diagnoses &amp; procedures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48640" y="2834640"/>
            <a:ext cx="8183880" cy="1508760"/>
          </a:xfrm>
          <a:prstGeom prst="rect">
            <a:avLst/>
          </a:prstGeom>
          <a:solidFill>
            <a:srgbClr val="132B4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22960" y="2926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Unified Patient View — Enter a patient_id, see everything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3291840"/>
            <a:ext cx="1417320" cy="914400"/>
          </a:xfrm>
          <a:prstGeom prst="rect">
            <a:avLst/>
          </a:prstGeom>
          <a:solidFill>
            <a:srgbClr val="0F213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346704"/>
            <a:ext cx="292608" cy="292608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822960" y="365760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Labs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822960" y="38404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Sodium, Creatinine,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eGFR, Glucose...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2386584" y="3291840"/>
            <a:ext cx="1417320" cy="914400"/>
          </a:xfrm>
          <a:prstGeom prst="rect">
            <a:avLst/>
          </a:prstGeom>
          <a:solidFill>
            <a:srgbClr val="0F213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9504" y="3346704"/>
            <a:ext cx="292608" cy="29260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2432304" y="365760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Devices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2432304" y="38404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Movement index,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events, bed exits</a:t>
            </a:r>
            <a:endParaRPr lang="en-US" sz="800" dirty="0"/>
          </a:p>
        </p:txBody>
      </p:sp>
      <p:sp>
        <p:nvSpPr>
          <p:cNvPr id="31" name="Shape 27"/>
          <p:cNvSpPr/>
          <p:nvPr/>
        </p:nvSpPr>
        <p:spPr>
          <a:xfrm>
            <a:off x="3995928" y="3291840"/>
            <a:ext cx="1417320" cy="914400"/>
          </a:xfrm>
          <a:prstGeom prst="rect">
            <a:avLst/>
          </a:prstGeom>
          <a:solidFill>
            <a:srgbClr val="0F213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8848" y="3346704"/>
            <a:ext cx="292608" cy="292608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4041648" y="365760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Meds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4041648" y="38404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Orders, doses,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status</a:t>
            </a:r>
            <a:endParaRPr lang="en-US" sz="800" dirty="0"/>
          </a:p>
        </p:txBody>
      </p:sp>
      <p:sp>
        <p:nvSpPr>
          <p:cNvPr id="35" name="Shape 30"/>
          <p:cNvSpPr/>
          <p:nvPr/>
        </p:nvSpPr>
        <p:spPr>
          <a:xfrm>
            <a:off x="5605272" y="3291840"/>
            <a:ext cx="1417320" cy="914400"/>
          </a:xfrm>
          <a:prstGeom prst="rect">
            <a:avLst/>
          </a:prstGeom>
          <a:solidFill>
            <a:srgbClr val="0F213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8192" y="3346704"/>
            <a:ext cx="292608" cy="292608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5650992" y="365760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Notes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5650992" y="38404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Nursing free-text,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</a:t>
            </a:r>
            <a:endParaRPr lang="en-US" sz="800" dirty="0"/>
          </a:p>
        </p:txBody>
      </p:sp>
      <p:sp>
        <p:nvSpPr>
          <p:cNvPr id="39" name="Shape 33"/>
          <p:cNvSpPr/>
          <p:nvPr/>
        </p:nvSpPr>
        <p:spPr>
          <a:xfrm>
            <a:off x="7214616" y="3291840"/>
            <a:ext cx="1417320" cy="914400"/>
          </a:xfrm>
          <a:prstGeom prst="rect">
            <a:avLst/>
          </a:prstGeom>
          <a:solidFill>
            <a:srgbClr val="0F213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17536" y="3346704"/>
            <a:ext cx="292608" cy="292608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7260336" y="365760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ICD-10</a:t>
            </a:r>
            <a:endParaRPr lang="en-US" sz="1000" dirty="0"/>
          </a:p>
        </p:txBody>
      </p:sp>
      <p:sp>
        <p:nvSpPr>
          <p:cNvPr id="42" name="Text 35"/>
          <p:cNvSpPr/>
          <p:nvPr/>
        </p:nvSpPr>
        <p:spPr>
          <a:xfrm>
            <a:off x="7260336" y="38404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&amp; secondary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diagnoses, OPS codes</a:t>
            </a:r>
            <a:endParaRPr lang="en-US" sz="800" dirty="0"/>
          </a:p>
        </p:txBody>
      </p:sp>
      <p:sp>
        <p:nvSpPr>
          <p:cNvPr id="43" name="Text 36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MedMap  ·  START HACK 2026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show you: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344168"/>
            <a:ext cx="438912" cy="438912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1344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417320" y="1280160"/>
            <a:ext cx="7223760" cy="548640"/>
          </a:xfrm>
          <a:prstGeom prst="rect">
            <a:avLst/>
          </a:prstGeom>
          <a:solidFill>
            <a:srgbClr val="132B4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645920" y="13075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 Datasets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45920" y="1536192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7 source files ingested automatically — CSV, XLSX, and PDF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2002536"/>
            <a:ext cx="438912" cy="438912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31520" y="20025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417320" y="1938528"/>
            <a:ext cx="7223760" cy="548640"/>
          </a:xfrm>
          <a:prstGeom prst="rect">
            <a:avLst/>
          </a:prstGeom>
          <a:solidFill>
            <a:srgbClr val="132B4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645920" y="19659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Quality Dashboard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45920" y="219456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completeness scores, anomaly alerts, sentinel detection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2660904"/>
            <a:ext cx="438912" cy="438912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31520" y="26609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417320" y="2596896"/>
            <a:ext cx="7223760" cy="548640"/>
          </a:xfrm>
          <a:prstGeom prst="rect">
            <a:avLst/>
          </a:prstGeom>
          <a:solidFill>
            <a:srgbClr val="132B4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645920" y="26243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ML Anomaly Scan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645920" y="2852928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flags suspicious cells with confidence levels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3319272"/>
            <a:ext cx="438912" cy="438912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31520" y="3319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417320" y="3255264"/>
            <a:ext cx="7223760" cy="548640"/>
          </a:xfrm>
          <a:prstGeom prst="rect">
            <a:avLst/>
          </a:prstGeom>
          <a:solidFill>
            <a:srgbClr val="132B4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645920" y="32826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Repair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645920" y="3511296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analyzes issues and suggests structured corrections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31520" y="3977640"/>
            <a:ext cx="438912" cy="438912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31520" y="39776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1417320" y="3913632"/>
            <a:ext cx="7223760" cy="548640"/>
          </a:xfrm>
          <a:prstGeom prst="rect">
            <a:avLst/>
          </a:prstGeom>
          <a:solidFill>
            <a:srgbClr val="132B4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1645920" y="39410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Compare &amp; Export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645920" y="4169664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Side-by-side dataset comparison, then export to SQL Server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MedMap  ·  START HACK 2026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MedMap Wins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3977640" cy="1234440"/>
          </a:xfrm>
          <a:prstGeom prst="rect">
            <a:avLst/>
          </a:prstGeom>
          <a:solidFill>
            <a:srgbClr val="132B4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34440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1612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Mins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2560320" y="1188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vs. weeks of manual work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77240" y="16916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automated ingestion, normalization &amp; AI repair — what took days now runs in minutes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800600" y="1051560"/>
            <a:ext cx="3977640" cy="1234440"/>
          </a:xfrm>
          <a:prstGeom prst="rect">
            <a:avLst/>
          </a:prstGeom>
          <a:solidFill>
            <a:srgbClr val="132B4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234440"/>
            <a:ext cx="347472" cy="3474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532120" y="11612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Local</a:t>
            </a:r>
            <a:endParaRPr lang="en-US" sz="2600" dirty="0"/>
          </a:p>
        </p:txBody>
      </p:sp>
      <p:sp>
        <p:nvSpPr>
          <p:cNvPr id="12" name="Text 8"/>
          <p:cNvSpPr/>
          <p:nvPr/>
        </p:nvSpPr>
        <p:spPr>
          <a:xfrm>
            <a:off x="6812280" y="1188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On-prem deployment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5029200" y="16916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pipeline runs fully offline — data stays in-house. AI repair optionally calls Claude API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48640" y="2468880"/>
            <a:ext cx="3977640" cy="1234440"/>
          </a:xfrm>
          <a:prstGeom prst="rect">
            <a:avLst/>
          </a:prstGeom>
          <a:solidFill>
            <a:srgbClr val="132B4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51760"/>
            <a:ext cx="347472" cy="34747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80160" y="257860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AI+ML</a:t>
            </a:r>
            <a:endParaRPr lang="en-US" sz="2600" dirty="0"/>
          </a:p>
        </p:txBody>
      </p:sp>
      <p:sp>
        <p:nvSpPr>
          <p:cNvPr id="17" name="Text 12"/>
          <p:cNvSpPr/>
          <p:nvPr/>
        </p:nvSpPr>
        <p:spPr>
          <a:xfrm>
            <a:off x="2560320" y="2606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Dual intelligence layer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777240" y="310896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for anomaly detection + Claude for context-aware data repair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800600" y="2468880"/>
            <a:ext cx="3977640" cy="1234440"/>
          </a:xfrm>
          <a:prstGeom prst="rect">
            <a:avLst/>
          </a:prstGeom>
          <a:solidFill>
            <a:srgbClr val="132B4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265176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532120" y="257860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7→1</a:t>
            </a:r>
            <a:endParaRPr lang="en-US" sz="2600" dirty="0"/>
          </a:p>
        </p:txBody>
      </p:sp>
      <p:sp>
        <p:nvSpPr>
          <p:cNvPr id="22" name="Text 16"/>
          <p:cNvSpPr/>
          <p:nvPr/>
        </p:nvSpPr>
        <p:spPr>
          <a:xfrm>
            <a:off x="6812280" y="2606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Unified data model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5029200" y="310896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heterogeneous sources harmonized into a single queryable patient view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548640" y="4023360"/>
            <a:ext cx="8183880" cy="7772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19"/>
          <p:cNvSpPr/>
          <p:nvPr/>
        </p:nvSpPr>
        <p:spPr>
          <a:xfrm>
            <a:off x="822960" y="40690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MedMap: </a:t>
            </a:r>
            <a:r>
              <a:rPr lang="en-US" sz="1800" dirty="0">
                <a:solidFill>
                  <a:srgbClr val="E8F1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mapping for smarter healthcare.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895</Words>
  <Application>Microsoft Office PowerPoint</Application>
  <PresentationFormat>On-screen Show (16:9)</PresentationFormat>
  <Paragraphs>178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MedMap — Smart Health Data Mapping</dc:title>
  <dc:subject>PptxGenJS Presentation</dc:subject>
  <dc:creator>Team ButEI</dc:creator>
  <cp:lastModifiedBy>Federico Schinardi</cp:lastModifiedBy>
  <cp:revision>3</cp:revision>
  <dcterms:created xsi:type="dcterms:W3CDTF">2026-03-19T22:22:59Z</dcterms:created>
  <dcterms:modified xsi:type="dcterms:W3CDTF">2026-03-19T23:04:41Z</dcterms:modified>
</cp:coreProperties>
</file>